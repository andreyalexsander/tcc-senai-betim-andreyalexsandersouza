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eue Machina Ultra-Bold" charset="1" panose="00000900000000000000"/>
      <p:regular r:id="rId18"/>
    </p:embeddedFont>
    <p:embeddedFont>
      <p:font typeface="Canva Sans Bold" charset="1" panose="020B0803030501040103"/>
      <p:regular r:id="rId19"/>
    </p:embeddedFont>
    <p:embeddedFont>
      <p:font typeface="Neue Machina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11" Target="../media/image13.jpe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gif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gif" Type="http://schemas.openxmlformats.org/officeDocument/2006/relationships/image"/><Relationship Id="rId6" Target="../media/image14.jpe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gif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gif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7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https://youtu.be/GtasXRkOpgk?is=BJrXypSirYSAasZ_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559024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0" y="0"/>
                </a:moveTo>
                <a:lnTo>
                  <a:pt x="19579424" y="0"/>
                </a:lnTo>
                <a:lnTo>
                  <a:pt x="19579424" y="8009764"/>
                </a:lnTo>
                <a:lnTo>
                  <a:pt x="0" y="8009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76092" y="4839645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0" y="0"/>
                </a:moveTo>
                <a:lnTo>
                  <a:pt x="19579424" y="0"/>
                </a:lnTo>
                <a:lnTo>
                  <a:pt x="19579424" y="8009765"/>
                </a:lnTo>
                <a:lnTo>
                  <a:pt x="0" y="8009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65753" y="5891640"/>
            <a:ext cx="8488753" cy="5154988"/>
          </a:xfrm>
          <a:custGeom>
            <a:avLst/>
            <a:gdLst/>
            <a:ahLst/>
            <a:cxnLst/>
            <a:rect r="r" b="b" t="t" l="l"/>
            <a:pathLst>
              <a:path h="5154988" w="8488753">
                <a:moveTo>
                  <a:pt x="0" y="0"/>
                </a:moveTo>
                <a:lnTo>
                  <a:pt x="8488753" y="0"/>
                </a:lnTo>
                <a:lnTo>
                  <a:pt x="8488753" y="5154988"/>
                </a:lnTo>
                <a:lnTo>
                  <a:pt x="0" y="51549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3751163" y="-272387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7366" y="7362825"/>
            <a:ext cx="545300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Instrutor:Cassio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489110" y="3591528"/>
            <a:ext cx="9462179" cy="3103944"/>
          </a:xfrm>
          <a:custGeom>
            <a:avLst/>
            <a:gdLst/>
            <a:ahLst/>
            <a:cxnLst/>
            <a:rect r="r" b="b" t="t" l="l"/>
            <a:pathLst>
              <a:path h="3103944" w="9462179">
                <a:moveTo>
                  <a:pt x="0" y="0"/>
                </a:moveTo>
                <a:lnTo>
                  <a:pt x="9462180" y="0"/>
                </a:lnTo>
                <a:lnTo>
                  <a:pt x="9462180" y="3103944"/>
                </a:lnTo>
                <a:lnTo>
                  <a:pt x="0" y="31039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112" t="-103216" r="-24763" b="-10321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386" r="0" b="-1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358941" y="-10158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871073" y="-10158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8" y="0"/>
                </a:lnTo>
                <a:lnTo>
                  <a:pt x="6775868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962583" y="6260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0"/>
                </a:moveTo>
                <a:lnTo>
                  <a:pt x="0" y="0"/>
                </a:lnTo>
                <a:lnTo>
                  <a:pt x="0" y="4114800"/>
                </a:lnTo>
                <a:lnTo>
                  <a:pt x="6775868" y="4114800"/>
                </a:lnTo>
                <a:lnTo>
                  <a:pt x="67758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12351" y="6260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4123364" y="6338480"/>
            <a:ext cx="286471" cy="285038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2167695" y="6338480"/>
            <a:ext cx="286471" cy="28503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807797" y="4013220"/>
            <a:ext cx="1830640" cy="18306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86213" y="4013220"/>
            <a:ext cx="1830640" cy="183064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60927" y="4013220"/>
            <a:ext cx="1830640" cy="18306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35642" y="4013220"/>
            <a:ext cx="1830640" cy="183064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114057" y="4013220"/>
            <a:ext cx="1830640" cy="183064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833525" y="4013220"/>
            <a:ext cx="1804912" cy="1830640"/>
            <a:chOff x="0" y="0"/>
            <a:chExt cx="11582400" cy="11747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6"/>
              <a:stretch>
                <a:fillRect l="223" t="-16559" r="223" b="-16559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t="0" r="-272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4879665" y="4013220"/>
            <a:ext cx="1804912" cy="1830640"/>
            <a:chOff x="0" y="0"/>
            <a:chExt cx="11582400" cy="11747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8"/>
              <a:stretch>
                <a:fillRect l="-16146" t="0" r="-16146" b="-76858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t="0" r="-272" b="0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7973791" y="4013220"/>
            <a:ext cx="1804912" cy="1830640"/>
            <a:chOff x="0" y="0"/>
            <a:chExt cx="11582400" cy="11747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9"/>
              <a:stretch>
                <a:fillRect l="223" t="-16490" r="223" b="-1649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t="0" r="-272" b="0"/>
              </a:stretch>
            </a:blip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11086622" y="4013220"/>
            <a:ext cx="1804912" cy="1830640"/>
            <a:chOff x="0" y="0"/>
            <a:chExt cx="11582400" cy="11747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0"/>
              <a:stretch>
                <a:fillRect l="-130441" t="-196511" r="-131590" b="-187883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t="0" r="-272" b="0"/>
              </a:stretch>
            </a:blipFill>
          </p:spPr>
        </p:sp>
      </p:grpSp>
      <p:grpSp>
        <p:nvGrpSpPr>
          <p:cNvPr name="Group 36" id="36"/>
          <p:cNvGrpSpPr>
            <a:grpSpLocks noChangeAspect="true"/>
          </p:cNvGrpSpPr>
          <p:nvPr/>
        </p:nvGrpSpPr>
        <p:grpSpPr>
          <a:xfrm rot="0">
            <a:off x="14104532" y="4013220"/>
            <a:ext cx="1804912" cy="1830640"/>
            <a:chOff x="0" y="0"/>
            <a:chExt cx="11582400" cy="1174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1"/>
              <a:stretch>
                <a:fillRect l="223" t="-38999" r="223" b="-38999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t="0" r="-27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5396465" y="1831995"/>
            <a:ext cx="7495069" cy="10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641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TIME CRIATIVO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96465" y="2803545"/>
            <a:ext cx="74950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KAION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-1024417" y="5891485"/>
            <a:ext cx="7495069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ANDREY 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ALEXANDER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53998" y="5891485"/>
            <a:ext cx="7495069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NICOLLY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RAFAELA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DESIGN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DATABASE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28713" y="5891485"/>
            <a:ext cx="7495069" cy="247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MATHEUS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HENRIQUE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HTML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8203427" y="5891485"/>
            <a:ext cx="7495069" cy="197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PEDRO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FAVA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REDATOR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311193" y="5954584"/>
            <a:ext cx="7495069" cy="197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TALYSSA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MIRANDA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CSS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20960" y="-4298251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5"/>
                </a:lnTo>
                <a:lnTo>
                  <a:pt x="19579424" y="8009765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88031" y="82296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-4175965" y="-78727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44963" y="4076004"/>
            <a:ext cx="13689807" cy="3687506"/>
            <a:chOff x="0" y="0"/>
            <a:chExt cx="4319859" cy="1163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9859" cy="1163603"/>
            </a:xfrm>
            <a:custGeom>
              <a:avLst/>
              <a:gdLst/>
              <a:ahLst/>
              <a:cxnLst/>
              <a:rect r="r" b="b" t="t" l="l"/>
              <a:pathLst>
                <a:path h="1163603" w="4319859">
                  <a:moveTo>
                    <a:pt x="18662" y="0"/>
                  </a:moveTo>
                  <a:lnTo>
                    <a:pt x="4301196" y="0"/>
                  </a:lnTo>
                  <a:cubicBezTo>
                    <a:pt x="4311503" y="0"/>
                    <a:pt x="4319859" y="8355"/>
                    <a:pt x="4319859" y="18662"/>
                  </a:cubicBezTo>
                  <a:lnTo>
                    <a:pt x="4319859" y="1144941"/>
                  </a:lnTo>
                  <a:cubicBezTo>
                    <a:pt x="4319859" y="1155248"/>
                    <a:pt x="4311503" y="1163603"/>
                    <a:pt x="4301196" y="1163603"/>
                  </a:cubicBezTo>
                  <a:lnTo>
                    <a:pt x="18662" y="1163603"/>
                  </a:lnTo>
                  <a:cubicBezTo>
                    <a:pt x="13713" y="1163603"/>
                    <a:pt x="8966" y="1161637"/>
                    <a:pt x="5466" y="1158137"/>
                  </a:cubicBezTo>
                  <a:cubicBezTo>
                    <a:pt x="1966" y="1154638"/>
                    <a:pt x="0" y="1149891"/>
                    <a:pt x="0" y="1144941"/>
                  </a:cubicBezTo>
                  <a:lnTo>
                    <a:pt x="0" y="18662"/>
                  </a:lnTo>
                  <a:cubicBezTo>
                    <a:pt x="0" y="8355"/>
                    <a:pt x="8355" y="0"/>
                    <a:pt x="18662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19859" cy="1201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20219" y="2101689"/>
            <a:ext cx="11823215" cy="10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641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APRESENTAÇÃO DE HOJE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0219" y="3139025"/>
            <a:ext cx="1182321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 QUE SERÁ ABORDADO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93369" y="4434635"/>
            <a:ext cx="319446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9569" y="5162837"/>
            <a:ext cx="439461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PÚBLICO ALVO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17169" y="5957570"/>
            <a:ext cx="454701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MAPA DE EMPATIA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9569" y="6748780"/>
            <a:ext cx="319446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CANVAS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3857" y="5196103"/>
            <a:ext cx="600585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SOLUÇÕES PROPOSTAS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73857" y="4434635"/>
            <a:ext cx="74275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TECNOLOGIAS E FERRAMENTAS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73857" y="5957570"/>
            <a:ext cx="643714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RESULTADOS ESPERADOS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3857" y="6634767"/>
            <a:ext cx="319446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PITCH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76021" y="7657186"/>
            <a:ext cx="5819713" cy="3534153"/>
          </a:xfrm>
          <a:custGeom>
            <a:avLst/>
            <a:gdLst/>
            <a:ahLst/>
            <a:cxnLst/>
            <a:rect r="r" b="b" t="t" l="l"/>
            <a:pathLst>
              <a:path h="3534153" w="5819713">
                <a:moveTo>
                  <a:pt x="0" y="0"/>
                </a:moveTo>
                <a:lnTo>
                  <a:pt x="5819712" y="0"/>
                </a:lnTo>
                <a:lnTo>
                  <a:pt x="5819712" y="3534153"/>
                </a:lnTo>
                <a:lnTo>
                  <a:pt x="0" y="35341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1933835" y="-174652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83382" y="4344400"/>
            <a:ext cx="286471" cy="285038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0444906" y="468554"/>
            <a:ext cx="5547846" cy="4160885"/>
            <a:chOff x="0" y="0"/>
            <a:chExt cx="8128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C386E"/>
            </a:solidFill>
            <a:ln w="85725" cap="sq">
              <a:solidFill>
                <a:srgbClr val="0C386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53751" y="1193457"/>
            <a:ext cx="6544396" cy="8465008"/>
            <a:chOff x="0" y="0"/>
            <a:chExt cx="471289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1289" cy="609600"/>
            </a:xfrm>
            <a:custGeom>
              <a:avLst/>
              <a:gdLst/>
              <a:ahLst/>
              <a:cxnLst/>
              <a:rect r="r" b="b" t="t" l="l"/>
              <a:pathLst>
                <a:path h="609600" w="471289">
                  <a:moveTo>
                    <a:pt x="203200" y="0"/>
                  </a:moveTo>
                  <a:lnTo>
                    <a:pt x="471289" y="0"/>
                  </a:lnTo>
                  <a:lnTo>
                    <a:pt x="26808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l="-47071" t="0" r="-47071" b="0"/>
              </a:stretch>
            </a:blipFill>
            <a:ln w="85725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1F4FAD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442452" y="2491312"/>
            <a:ext cx="6179294" cy="88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2"/>
              </a:lnSpc>
            </a:pPr>
            <a:r>
              <a:rPr lang="en-US" b="true" sz="641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INTRODUÇÃO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8305247" y="4344400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5"/>
                </a:lnTo>
                <a:lnTo>
                  <a:pt x="19579424" y="8009765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08597" y="7695286"/>
            <a:ext cx="7231066" cy="10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703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REQUISITOS: SIST</a:t>
            </a:r>
            <a:r>
              <a:rPr lang="en-US" b="true" sz="2703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EMA SIMPLES, SEGURO, COM RELATÓRIOS E BAIXO CUSTO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76073" y="3855741"/>
            <a:ext cx="4668834" cy="3702849"/>
            <a:chOff x="0" y="0"/>
            <a:chExt cx="1473264" cy="11684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3264" cy="1168445"/>
            </a:xfrm>
            <a:custGeom>
              <a:avLst/>
              <a:gdLst/>
              <a:ahLst/>
              <a:cxnLst/>
              <a:rect r="r" b="b" t="t" l="l"/>
              <a:pathLst>
                <a:path h="1168445" w="1473264">
                  <a:moveTo>
                    <a:pt x="54721" y="0"/>
                  </a:moveTo>
                  <a:lnTo>
                    <a:pt x="1418543" y="0"/>
                  </a:lnTo>
                  <a:cubicBezTo>
                    <a:pt x="1433056" y="0"/>
                    <a:pt x="1446975" y="5765"/>
                    <a:pt x="1457237" y="16027"/>
                  </a:cubicBezTo>
                  <a:cubicBezTo>
                    <a:pt x="1467499" y="26290"/>
                    <a:pt x="1473264" y="40208"/>
                    <a:pt x="1473264" y="54721"/>
                  </a:cubicBezTo>
                  <a:lnTo>
                    <a:pt x="1473264" y="1113724"/>
                  </a:lnTo>
                  <a:cubicBezTo>
                    <a:pt x="1473264" y="1143945"/>
                    <a:pt x="1448765" y="1168445"/>
                    <a:pt x="1418543" y="1168445"/>
                  </a:cubicBezTo>
                  <a:lnTo>
                    <a:pt x="54721" y="1168445"/>
                  </a:lnTo>
                  <a:cubicBezTo>
                    <a:pt x="40208" y="1168445"/>
                    <a:pt x="26290" y="1162680"/>
                    <a:pt x="16027" y="1152418"/>
                  </a:cubicBezTo>
                  <a:cubicBezTo>
                    <a:pt x="5765" y="1142155"/>
                    <a:pt x="0" y="1128237"/>
                    <a:pt x="0" y="1113724"/>
                  </a:cubicBezTo>
                  <a:lnTo>
                    <a:pt x="0" y="54721"/>
                  </a:lnTo>
                  <a:cubicBezTo>
                    <a:pt x="0" y="40208"/>
                    <a:pt x="5765" y="26290"/>
                    <a:pt x="16027" y="16027"/>
                  </a:cubicBezTo>
                  <a:cubicBezTo>
                    <a:pt x="26290" y="5765"/>
                    <a:pt x="40208" y="0"/>
                    <a:pt x="54721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73264" cy="1216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Objetivo: Digitalizar e centralizar todo o ciclo de vida dos produtos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Resultado esperado: Mais agilidade, controle, inovação e decisões estratégicas baseadas em dados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7966" y="3837350"/>
            <a:ext cx="4668834" cy="3702849"/>
            <a:chOff x="0" y="0"/>
            <a:chExt cx="1473264" cy="11684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3264" cy="1168445"/>
            </a:xfrm>
            <a:custGeom>
              <a:avLst/>
              <a:gdLst/>
              <a:ahLst/>
              <a:cxnLst/>
              <a:rect r="r" b="b" t="t" l="l"/>
              <a:pathLst>
                <a:path h="1168445" w="1473264">
                  <a:moveTo>
                    <a:pt x="54721" y="0"/>
                  </a:moveTo>
                  <a:lnTo>
                    <a:pt x="1418543" y="0"/>
                  </a:lnTo>
                  <a:cubicBezTo>
                    <a:pt x="1433056" y="0"/>
                    <a:pt x="1446975" y="5765"/>
                    <a:pt x="1457237" y="16027"/>
                  </a:cubicBezTo>
                  <a:cubicBezTo>
                    <a:pt x="1467499" y="26290"/>
                    <a:pt x="1473264" y="40208"/>
                    <a:pt x="1473264" y="54721"/>
                  </a:cubicBezTo>
                  <a:lnTo>
                    <a:pt x="1473264" y="1113724"/>
                  </a:lnTo>
                  <a:cubicBezTo>
                    <a:pt x="1473264" y="1143945"/>
                    <a:pt x="1448765" y="1168445"/>
                    <a:pt x="1418543" y="1168445"/>
                  </a:cubicBezTo>
                  <a:lnTo>
                    <a:pt x="54721" y="1168445"/>
                  </a:lnTo>
                  <a:cubicBezTo>
                    <a:pt x="40208" y="1168445"/>
                    <a:pt x="26290" y="1162680"/>
                    <a:pt x="16027" y="1152418"/>
                  </a:cubicBezTo>
                  <a:cubicBezTo>
                    <a:pt x="5765" y="1142155"/>
                    <a:pt x="0" y="1128237"/>
                    <a:pt x="0" y="1113724"/>
                  </a:cubicBezTo>
                  <a:lnTo>
                    <a:pt x="0" y="54721"/>
                  </a:lnTo>
                  <a:cubicBezTo>
                    <a:pt x="0" y="40208"/>
                    <a:pt x="5765" y="26290"/>
                    <a:pt x="16027" y="16027"/>
                  </a:cubicBezTo>
                  <a:cubicBezTo>
                    <a:pt x="26290" y="5765"/>
                    <a:pt x="40208" y="0"/>
                    <a:pt x="54721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73264" cy="1216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Desafio: Processos manuais e falta de organização na gestão de produtos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Impacto: Perda de informações, lentidão e decisões sem dados confiáveis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405002" y="3448071"/>
            <a:ext cx="2540005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b="true" sz="300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DEMANDA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262724" y="-5795467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660886" y="5868685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97440" y="7816167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9" y="0"/>
                </a:lnTo>
                <a:lnTo>
                  <a:pt x="6775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72966" y="77974"/>
            <a:ext cx="9746539" cy="109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8"/>
              </a:lnSpc>
            </a:pPr>
            <a:r>
              <a:rPr lang="en-US" sz="6405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PÚBLICO ALVO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7171" y="2567014"/>
            <a:ext cx="8427417" cy="1625271"/>
            <a:chOff x="0" y="0"/>
            <a:chExt cx="2659296" cy="512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9296" cy="512859"/>
            </a:xfrm>
            <a:custGeom>
              <a:avLst/>
              <a:gdLst/>
              <a:ahLst/>
              <a:cxnLst/>
              <a:rect r="r" b="b" t="t" l="l"/>
              <a:pathLst>
                <a:path h="512859" w="2659296">
                  <a:moveTo>
                    <a:pt x="30316" y="0"/>
                  </a:moveTo>
                  <a:lnTo>
                    <a:pt x="2628981" y="0"/>
                  </a:lnTo>
                  <a:cubicBezTo>
                    <a:pt x="2637021" y="0"/>
                    <a:pt x="2644732" y="3194"/>
                    <a:pt x="2650417" y="8879"/>
                  </a:cubicBezTo>
                  <a:cubicBezTo>
                    <a:pt x="2656102" y="14565"/>
                    <a:pt x="2659296" y="22276"/>
                    <a:pt x="2659296" y="30316"/>
                  </a:cubicBezTo>
                  <a:lnTo>
                    <a:pt x="2659296" y="482543"/>
                  </a:lnTo>
                  <a:cubicBezTo>
                    <a:pt x="2659296" y="490584"/>
                    <a:pt x="2656102" y="498295"/>
                    <a:pt x="2650417" y="503980"/>
                  </a:cubicBezTo>
                  <a:cubicBezTo>
                    <a:pt x="2644732" y="509665"/>
                    <a:pt x="2637021" y="512859"/>
                    <a:pt x="2628981" y="512859"/>
                  </a:cubicBezTo>
                  <a:lnTo>
                    <a:pt x="30316" y="512859"/>
                  </a:lnTo>
                  <a:cubicBezTo>
                    <a:pt x="13573" y="512859"/>
                    <a:pt x="0" y="499286"/>
                    <a:pt x="0" y="482543"/>
                  </a:cubicBezTo>
                  <a:lnTo>
                    <a:pt x="0" y="30316"/>
                  </a:lnTo>
                  <a:cubicBezTo>
                    <a:pt x="0" y="13573"/>
                    <a:pt x="13573" y="0"/>
                    <a:pt x="30316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59296" cy="550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26836" y="2791876"/>
            <a:ext cx="7635888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K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AION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É V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OL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ADO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PARA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UMA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EMPRESA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QUE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DE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SEJ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 O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RG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AN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IZ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R,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AC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EL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ER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AR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E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MODER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N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Z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O 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ES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NVO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V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IM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N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TO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US P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RO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DUTO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5338" y="2057109"/>
            <a:ext cx="549860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QUEM VAI USAR A SOLUÇÃO?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43037" y="4353503"/>
            <a:ext cx="8427417" cy="1967848"/>
            <a:chOff x="0" y="0"/>
            <a:chExt cx="2659296" cy="620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9296" cy="620960"/>
            </a:xfrm>
            <a:custGeom>
              <a:avLst/>
              <a:gdLst/>
              <a:ahLst/>
              <a:cxnLst/>
              <a:rect r="r" b="b" t="t" l="l"/>
              <a:pathLst>
                <a:path h="620960" w="2659296">
                  <a:moveTo>
                    <a:pt x="30316" y="0"/>
                  </a:moveTo>
                  <a:lnTo>
                    <a:pt x="2628981" y="0"/>
                  </a:lnTo>
                  <a:cubicBezTo>
                    <a:pt x="2637021" y="0"/>
                    <a:pt x="2644732" y="3194"/>
                    <a:pt x="2650417" y="8879"/>
                  </a:cubicBezTo>
                  <a:cubicBezTo>
                    <a:pt x="2656102" y="14565"/>
                    <a:pt x="2659296" y="22276"/>
                    <a:pt x="2659296" y="30316"/>
                  </a:cubicBezTo>
                  <a:lnTo>
                    <a:pt x="2659296" y="590645"/>
                  </a:lnTo>
                  <a:cubicBezTo>
                    <a:pt x="2659296" y="607388"/>
                    <a:pt x="2645724" y="620960"/>
                    <a:pt x="2628981" y="620960"/>
                  </a:cubicBezTo>
                  <a:lnTo>
                    <a:pt x="30316" y="620960"/>
                  </a:lnTo>
                  <a:cubicBezTo>
                    <a:pt x="13573" y="620960"/>
                    <a:pt x="0" y="607388"/>
                    <a:pt x="0" y="590645"/>
                  </a:cubicBezTo>
                  <a:lnTo>
                    <a:pt x="0" y="30316"/>
                  </a:lnTo>
                  <a:cubicBezTo>
                    <a:pt x="0" y="13573"/>
                    <a:pt x="13573" y="0"/>
                    <a:pt x="30316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59296" cy="659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243037" y="4563997"/>
            <a:ext cx="8427417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EQUIP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DE INOVAÇ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ÃO;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SETOR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DE PESQUIS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 E D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ESENV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LVIMENTO (P&amp;D);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GESTORES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D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 PRODUTOS;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ÁREA D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 PRODUÇÃO E MANUFA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TURA.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47512" y="3843598"/>
            <a:ext cx="426824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PERFIL DOS USUÁRIOS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974534" y="-586911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986472" y="-299408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8" y="0"/>
                </a:lnTo>
                <a:lnTo>
                  <a:pt x="6775868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143925" y="6260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0"/>
                </a:moveTo>
                <a:lnTo>
                  <a:pt x="0" y="0"/>
                </a:lnTo>
                <a:lnTo>
                  <a:pt x="0" y="4114800"/>
                </a:lnTo>
                <a:lnTo>
                  <a:pt x="6775868" y="4114800"/>
                </a:lnTo>
                <a:lnTo>
                  <a:pt x="67758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746875" y="6260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4954840" y="6486765"/>
            <a:ext cx="286471" cy="285038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8977006" y="5539357"/>
            <a:ext cx="286471" cy="285038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965927" y="-65786"/>
            <a:ext cx="10356146" cy="10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641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MAPA DE EMPATIA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153562" y="1669081"/>
            <a:ext cx="4542257" cy="2730034"/>
          </a:xfrm>
          <a:prstGeom prst="line">
            <a:avLst/>
          </a:prstGeom>
          <a:ln cap="flat" w="19050">
            <a:solidFill>
              <a:srgbClr val="0C386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9454435" y="5094248"/>
            <a:ext cx="4741830" cy="2969246"/>
          </a:xfrm>
          <a:prstGeom prst="line">
            <a:avLst/>
          </a:prstGeom>
          <a:ln cap="flat" w="19050">
            <a:solidFill>
              <a:srgbClr val="0C386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3153562" y="5102211"/>
            <a:ext cx="4537031" cy="2977355"/>
          </a:xfrm>
          <a:prstGeom prst="line">
            <a:avLst/>
          </a:prstGeom>
          <a:ln cap="flat" w="19050">
            <a:solidFill>
              <a:srgbClr val="0C386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153562" y="8063494"/>
            <a:ext cx="11042702" cy="0"/>
          </a:xfrm>
          <a:prstGeom prst="line">
            <a:avLst/>
          </a:prstGeom>
          <a:ln cap="flat" w="19050">
            <a:solidFill>
              <a:srgbClr val="0C386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039387" y="3928987"/>
            <a:ext cx="1071332" cy="1165261"/>
          </a:xfrm>
          <a:custGeom>
            <a:avLst/>
            <a:gdLst/>
            <a:ahLst/>
            <a:cxnLst/>
            <a:rect r="r" b="b" t="t" l="l"/>
            <a:pathLst>
              <a:path h="1165261" w="1071332">
                <a:moveTo>
                  <a:pt x="0" y="0"/>
                </a:moveTo>
                <a:lnTo>
                  <a:pt x="1071332" y="0"/>
                </a:lnTo>
                <a:lnTo>
                  <a:pt x="1071332" y="1165261"/>
                </a:lnTo>
                <a:lnTo>
                  <a:pt x="0" y="1165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397350" y="854768"/>
            <a:ext cx="665741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O que ele pensa e sente?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44708" y="1322128"/>
            <a:ext cx="5362699" cy="257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299"/>
              </a:lnSpc>
              <a:buFont typeface="Arial"/>
              <a:buChar char="•"/>
            </a:pPr>
            <a:r>
              <a:rPr lang="en-US" sz="19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Preocupação com a desorganização dos processos</a:t>
            </a:r>
          </a:p>
          <a:p>
            <a:pPr algn="l" marL="410211" indent="-205106" lvl="1">
              <a:lnSpc>
                <a:spcPts val="2299"/>
              </a:lnSpc>
              <a:buFont typeface="Arial"/>
              <a:buChar char="•"/>
            </a:pPr>
            <a:r>
              <a:rPr lang="en-US" sz="19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Frustração com perda de informações importantes</a:t>
            </a:r>
          </a:p>
          <a:p>
            <a:pPr algn="l" marL="410211" indent="-205106" lvl="1">
              <a:lnSpc>
                <a:spcPts val="2299"/>
              </a:lnSpc>
              <a:buFont typeface="Arial"/>
              <a:buChar char="•"/>
            </a:pPr>
            <a:r>
              <a:rPr lang="en-US" sz="19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Necessidade de tomar decisões mais rápidas e seguras</a:t>
            </a:r>
          </a:p>
          <a:p>
            <a:pPr algn="l" marL="410211" indent="-205106" lvl="1">
              <a:lnSpc>
                <a:spcPts val="2299"/>
              </a:lnSpc>
              <a:buFont typeface="Arial"/>
              <a:buChar char="•"/>
            </a:pPr>
            <a:r>
              <a:rPr lang="en-US" sz="19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Desejo de melhorar a eficiência e inovação da empresa</a:t>
            </a:r>
          </a:p>
          <a:p>
            <a:pPr algn="l">
              <a:lnSpc>
                <a:spcPts val="22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558493" y="3205696"/>
            <a:ext cx="402901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O que ele escuta?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660" y="4021441"/>
            <a:ext cx="5576125" cy="172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106" indent="-205053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Cobranças por mais agilidade e resultados</a:t>
            </a:r>
          </a:p>
          <a:p>
            <a:pPr algn="l" marL="410106" indent="-205053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Necessidade de inovação constante</a:t>
            </a:r>
          </a:p>
          <a:p>
            <a:pPr algn="l" marL="410106" indent="-205053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Sugestões de melhorias nos processos</a:t>
            </a:r>
          </a:p>
          <a:p>
            <a:pPr algn="l" marL="410106" indent="-205053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Demandas por decisões mais assertivas</a:t>
            </a:r>
          </a:p>
          <a:p>
            <a:pPr algn="l">
              <a:lnSpc>
                <a:spcPts val="229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864606" y="3205696"/>
            <a:ext cx="386468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O que ele vê?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10473" y="4021441"/>
            <a:ext cx="7133087" cy="172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Processos manuais e desorganizados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Falta de sistemas integrados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Dificuldade em acompanhar o andamento dos produtos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Pouca visibilidade de dados e indicadores</a:t>
            </a:r>
          </a:p>
          <a:p>
            <a:pPr algn="l">
              <a:lnSpc>
                <a:spcPts val="229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787145" y="5657456"/>
            <a:ext cx="362332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O que ele fala e faz?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87510" y="6486765"/>
            <a:ext cx="6575435" cy="137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178"/>
              </a:lnSpc>
              <a:buFont typeface="Arial"/>
              <a:buChar char="•"/>
            </a:pPr>
            <a:r>
              <a:rPr lang="en-US" sz="18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Reclama da demora nos processos</a:t>
            </a:r>
          </a:p>
          <a:p>
            <a:pPr algn="l" marL="388622" indent="-194311" lvl="1">
              <a:lnSpc>
                <a:spcPts val="2178"/>
              </a:lnSpc>
              <a:buFont typeface="Arial"/>
              <a:buChar char="•"/>
            </a:pPr>
            <a:r>
              <a:rPr lang="en-US" sz="18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Busca organizar informações manualmente</a:t>
            </a:r>
          </a:p>
          <a:p>
            <a:pPr algn="l" marL="388622" indent="-194311" lvl="1">
              <a:lnSpc>
                <a:spcPts val="2178"/>
              </a:lnSpc>
              <a:buFont typeface="Arial"/>
              <a:buChar char="•"/>
            </a:pPr>
            <a:r>
              <a:rPr lang="en-US" sz="18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Compartilha dados de forma informal</a:t>
            </a:r>
          </a:p>
          <a:p>
            <a:pPr algn="l" marL="388622" indent="-194311" lvl="1">
              <a:lnSpc>
                <a:spcPts val="2178"/>
              </a:lnSpc>
              <a:buFont typeface="Arial"/>
              <a:buChar char="•"/>
            </a:pPr>
            <a:r>
              <a:rPr lang="en-US" sz="18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Tenta melhorar o controle com ferramentas básicas</a:t>
            </a:r>
          </a:p>
          <a:p>
            <a:pPr algn="l">
              <a:lnSpc>
                <a:spcPts val="2178"/>
              </a:lnSpc>
            </a:pPr>
          </a:p>
        </p:txBody>
      </p:sp>
      <p:sp>
        <p:nvSpPr>
          <p:cNvPr name="AutoShape 23" id="23"/>
          <p:cNvSpPr/>
          <p:nvPr/>
        </p:nvSpPr>
        <p:spPr>
          <a:xfrm flipV="true">
            <a:off x="8598809" y="8565341"/>
            <a:ext cx="0" cy="824366"/>
          </a:xfrm>
          <a:prstGeom prst="line">
            <a:avLst/>
          </a:prstGeom>
          <a:ln cap="flat" w="19050">
            <a:solidFill>
              <a:srgbClr val="0C386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377318" y="8064870"/>
            <a:ext cx="335489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Ganhos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60722" y="8117031"/>
            <a:ext cx="335489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Dor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13193" y="8607054"/>
            <a:ext cx="5161860" cy="172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Perda de dados e retrabalho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Falta de controle e rastreabilidade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Demora na aprovação de produtos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Dificuldade na tomada de decisão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Falta de indicadores e relatórios</a:t>
            </a:r>
          </a:p>
          <a:p>
            <a:pPr algn="l">
              <a:lnSpc>
                <a:spcPts val="2298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9161198" y="8552650"/>
            <a:ext cx="6273614" cy="172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Centralização das informações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Processos mais rápidos e organizados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Acesso a dashboards e relatórios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Melhor tomada de decisão baseada em dados</a:t>
            </a:r>
          </a:p>
          <a:p>
            <a:pPr algn="l" marL="410209" indent="-205105" lvl="1">
              <a:lnSpc>
                <a:spcPts val="2298"/>
              </a:lnSpc>
              <a:buFont typeface="Arial"/>
              <a:buChar char="•"/>
            </a:pPr>
            <a:r>
              <a:rPr lang="en-US" sz="1899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</a:rPr>
              <a:t>Redução do tempo de lançamento de produtos</a:t>
            </a:r>
          </a:p>
          <a:p>
            <a:pPr algn="l">
              <a:lnSpc>
                <a:spcPts val="2298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9454435" y="1757992"/>
            <a:ext cx="4741830" cy="2641123"/>
          </a:xfrm>
          <a:prstGeom prst="line">
            <a:avLst/>
          </a:prstGeom>
          <a:ln cap="flat" w="19050">
            <a:solidFill>
              <a:srgbClr val="0C386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473990" y="-10158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59138" y="704491"/>
            <a:ext cx="3692956" cy="3149971"/>
            <a:chOff x="0" y="0"/>
            <a:chExt cx="972623" cy="829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2623" cy="829628"/>
            </a:xfrm>
            <a:custGeom>
              <a:avLst/>
              <a:gdLst/>
              <a:ahLst/>
              <a:cxnLst/>
              <a:rect r="r" b="b" t="t" l="l"/>
              <a:pathLst>
                <a:path h="829628" w="972623">
                  <a:moveTo>
                    <a:pt x="972623" y="31446"/>
                  </a:moveTo>
                  <a:lnTo>
                    <a:pt x="972623" y="798182"/>
                  </a:lnTo>
                  <a:cubicBezTo>
                    <a:pt x="972623" y="815549"/>
                    <a:pt x="958544" y="829628"/>
                    <a:pt x="941177" y="829628"/>
                  </a:cubicBezTo>
                  <a:lnTo>
                    <a:pt x="31446" y="829628"/>
                  </a:lnTo>
                  <a:cubicBezTo>
                    <a:pt x="14079" y="829628"/>
                    <a:pt x="0" y="815549"/>
                    <a:pt x="0" y="798182"/>
                  </a:cubicBezTo>
                  <a:lnTo>
                    <a:pt x="0" y="31446"/>
                  </a:lnTo>
                  <a:cubicBezTo>
                    <a:pt x="0" y="14079"/>
                    <a:pt x="14079" y="0"/>
                    <a:pt x="31446" y="0"/>
                  </a:cubicBezTo>
                  <a:lnTo>
                    <a:pt x="941177" y="0"/>
                  </a:lnTo>
                  <a:cubicBezTo>
                    <a:pt x="949517" y="0"/>
                    <a:pt x="957515" y="3313"/>
                    <a:pt x="963413" y="9210"/>
                  </a:cubicBezTo>
                  <a:cubicBezTo>
                    <a:pt x="969310" y="15108"/>
                    <a:pt x="972623" y="23106"/>
                    <a:pt x="972623" y="31446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72623" cy="8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304" y="704491"/>
            <a:ext cx="3692956" cy="6299943"/>
            <a:chOff x="0" y="0"/>
            <a:chExt cx="972623" cy="16592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2623" cy="1659257"/>
            </a:xfrm>
            <a:custGeom>
              <a:avLst/>
              <a:gdLst/>
              <a:ahLst/>
              <a:cxnLst/>
              <a:rect r="r" b="b" t="t" l="l"/>
              <a:pathLst>
                <a:path h="1659257" w="972623">
                  <a:moveTo>
                    <a:pt x="972623" y="31446"/>
                  </a:moveTo>
                  <a:lnTo>
                    <a:pt x="972623" y="1627811"/>
                  </a:lnTo>
                  <a:cubicBezTo>
                    <a:pt x="972623" y="1645178"/>
                    <a:pt x="958544" y="1659257"/>
                    <a:pt x="941177" y="1659257"/>
                  </a:cubicBezTo>
                  <a:lnTo>
                    <a:pt x="31446" y="1659257"/>
                  </a:lnTo>
                  <a:cubicBezTo>
                    <a:pt x="14079" y="1659257"/>
                    <a:pt x="0" y="1645178"/>
                    <a:pt x="0" y="1627811"/>
                  </a:cubicBezTo>
                  <a:lnTo>
                    <a:pt x="0" y="31446"/>
                  </a:lnTo>
                  <a:cubicBezTo>
                    <a:pt x="0" y="14079"/>
                    <a:pt x="14079" y="0"/>
                    <a:pt x="31446" y="0"/>
                  </a:cubicBezTo>
                  <a:lnTo>
                    <a:pt x="941177" y="0"/>
                  </a:lnTo>
                  <a:cubicBezTo>
                    <a:pt x="949517" y="0"/>
                    <a:pt x="957515" y="3313"/>
                    <a:pt x="963413" y="9210"/>
                  </a:cubicBezTo>
                  <a:cubicBezTo>
                    <a:pt x="969310" y="15108"/>
                    <a:pt x="972623" y="23106"/>
                    <a:pt x="972623" y="31446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72623" cy="1716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8294" y="704491"/>
            <a:ext cx="3692956" cy="6299943"/>
            <a:chOff x="0" y="0"/>
            <a:chExt cx="972623" cy="16592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2623" cy="1659257"/>
            </a:xfrm>
            <a:custGeom>
              <a:avLst/>
              <a:gdLst/>
              <a:ahLst/>
              <a:cxnLst/>
              <a:rect r="r" b="b" t="t" l="l"/>
              <a:pathLst>
                <a:path h="1659257" w="972623">
                  <a:moveTo>
                    <a:pt x="972623" y="31446"/>
                  </a:moveTo>
                  <a:lnTo>
                    <a:pt x="972623" y="1627811"/>
                  </a:lnTo>
                  <a:cubicBezTo>
                    <a:pt x="972623" y="1645178"/>
                    <a:pt x="958544" y="1659257"/>
                    <a:pt x="941177" y="1659257"/>
                  </a:cubicBezTo>
                  <a:lnTo>
                    <a:pt x="31446" y="1659257"/>
                  </a:lnTo>
                  <a:cubicBezTo>
                    <a:pt x="14079" y="1659257"/>
                    <a:pt x="0" y="1645178"/>
                    <a:pt x="0" y="1627811"/>
                  </a:cubicBezTo>
                  <a:lnTo>
                    <a:pt x="0" y="31446"/>
                  </a:lnTo>
                  <a:cubicBezTo>
                    <a:pt x="0" y="14079"/>
                    <a:pt x="14079" y="0"/>
                    <a:pt x="31446" y="0"/>
                  </a:cubicBezTo>
                  <a:lnTo>
                    <a:pt x="941177" y="0"/>
                  </a:lnTo>
                  <a:cubicBezTo>
                    <a:pt x="949517" y="0"/>
                    <a:pt x="957515" y="3313"/>
                    <a:pt x="963413" y="9210"/>
                  </a:cubicBezTo>
                  <a:cubicBezTo>
                    <a:pt x="969310" y="15108"/>
                    <a:pt x="972623" y="23106"/>
                    <a:pt x="972623" y="31446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72623" cy="1716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12986122" y="-10158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397450" y="733066"/>
            <a:ext cx="3555059" cy="3149971"/>
            <a:chOff x="0" y="0"/>
            <a:chExt cx="936305" cy="8296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6305" cy="829628"/>
            </a:xfrm>
            <a:custGeom>
              <a:avLst/>
              <a:gdLst/>
              <a:ahLst/>
              <a:cxnLst/>
              <a:rect r="r" b="b" t="t" l="l"/>
              <a:pathLst>
                <a:path h="829628" w="936305">
                  <a:moveTo>
                    <a:pt x="936305" y="32666"/>
                  </a:moveTo>
                  <a:lnTo>
                    <a:pt x="936305" y="796963"/>
                  </a:lnTo>
                  <a:cubicBezTo>
                    <a:pt x="936305" y="815003"/>
                    <a:pt x="921680" y="829628"/>
                    <a:pt x="903639" y="829628"/>
                  </a:cubicBezTo>
                  <a:lnTo>
                    <a:pt x="32666" y="829628"/>
                  </a:lnTo>
                  <a:cubicBezTo>
                    <a:pt x="24002" y="829628"/>
                    <a:pt x="15694" y="826187"/>
                    <a:pt x="9568" y="820061"/>
                  </a:cubicBezTo>
                  <a:cubicBezTo>
                    <a:pt x="3442" y="813935"/>
                    <a:pt x="0" y="805626"/>
                    <a:pt x="0" y="796963"/>
                  </a:cubicBezTo>
                  <a:lnTo>
                    <a:pt x="0" y="32666"/>
                  </a:lnTo>
                  <a:cubicBezTo>
                    <a:pt x="0" y="24002"/>
                    <a:pt x="3442" y="15694"/>
                    <a:pt x="9568" y="9568"/>
                  </a:cubicBezTo>
                  <a:cubicBezTo>
                    <a:pt x="15694" y="3442"/>
                    <a:pt x="24002" y="0"/>
                    <a:pt x="32666" y="0"/>
                  </a:cubicBezTo>
                  <a:lnTo>
                    <a:pt x="903639" y="0"/>
                  </a:lnTo>
                  <a:cubicBezTo>
                    <a:pt x="921680" y="0"/>
                    <a:pt x="936305" y="14625"/>
                    <a:pt x="936305" y="32666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36305" cy="8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054353" y="128308"/>
            <a:ext cx="6179294" cy="75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4"/>
              </a:lnSpc>
            </a:pPr>
            <a:r>
              <a:rPr lang="en-US" b="true" sz="54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CANVAS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866" y="823278"/>
            <a:ext cx="241686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Parceiros-Chave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974" y="1131557"/>
            <a:ext cx="3605344" cy="582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14" indent="-199707" lvl="1">
              <a:lnSpc>
                <a:spcPts val="2589"/>
              </a:lnSpc>
              <a:buFont typeface="Arial"/>
              <a:buChar char="•"/>
            </a:pPr>
            <a:r>
              <a:rPr lang="en-US" sz="184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 projeto é desenvolvido em parceria com a M.a.f. de Sousa &amp; Cia. Ltda., responsável por fornecer os requisitos do processo de gestão do ciclo de vida dos produtos. Além disso, utiliza provedores de infraestrutura em nuvem, como AWS ou Azure, para garantir a segurança e disponibilidade das informações, contando também com o apoio do SENAI no desenvolvimento da solução.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21594" y="823278"/>
            <a:ext cx="316380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Atividades Principais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71617" y="1131557"/>
            <a:ext cx="3836911" cy="287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9676" indent="-184838" lvl="1">
              <a:lnSpc>
                <a:spcPts val="2397"/>
              </a:lnSpc>
              <a:buFont typeface="Arial"/>
              <a:buChar char="•"/>
            </a:pPr>
            <a:r>
              <a:rPr lang="en-US" sz="171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Desenvolvimento contínuo da plataforma Kaion, manutenção da segurança da informação, suporte técnico aos colaboradores da empresa e digitalização dos processos de gestão de ideias, testes de receitas e aprovação de produtos.</a:t>
            </a:r>
          </a:p>
          <a:p>
            <a:pPr algn="l">
              <a:lnSpc>
                <a:spcPts val="1464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3854435" y="3940188"/>
            <a:ext cx="3692956" cy="3064246"/>
            <a:chOff x="0" y="0"/>
            <a:chExt cx="972623" cy="807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2623" cy="807050"/>
            </a:xfrm>
            <a:custGeom>
              <a:avLst/>
              <a:gdLst/>
              <a:ahLst/>
              <a:cxnLst/>
              <a:rect r="r" b="b" t="t" l="l"/>
              <a:pathLst>
                <a:path h="807050" w="972623">
                  <a:moveTo>
                    <a:pt x="972623" y="31446"/>
                  </a:moveTo>
                  <a:lnTo>
                    <a:pt x="972623" y="775604"/>
                  </a:lnTo>
                  <a:cubicBezTo>
                    <a:pt x="972623" y="792971"/>
                    <a:pt x="958544" y="807050"/>
                    <a:pt x="941177" y="807050"/>
                  </a:cubicBezTo>
                  <a:lnTo>
                    <a:pt x="31446" y="807050"/>
                  </a:lnTo>
                  <a:cubicBezTo>
                    <a:pt x="14079" y="807050"/>
                    <a:pt x="0" y="792971"/>
                    <a:pt x="0" y="775604"/>
                  </a:cubicBezTo>
                  <a:lnTo>
                    <a:pt x="0" y="31446"/>
                  </a:lnTo>
                  <a:cubicBezTo>
                    <a:pt x="0" y="14079"/>
                    <a:pt x="14079" y="0"/>
                    <a:pt x="31446" y="0"/>
                  </a:cubicBezTo>
                  <a:lnTo>
                    <a:pt x="941177" y="0"/>
                  </a:lnTo>
                  <a:cubicBezTo>
                    <a:pt x="949517" y="0"/>
                    <a:pt x="957515" y="3313"/>
                    <a:pt x="963413" y="9210"/>
                  </a:cubicBezTo>
                  <a:cubicBezTo>
                    <a:pt x="969310" y="15108"/>
                    <a:pt x="972623" y="23106"/>
                    <a:pt x="972623" y="31446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72623" cy="86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088472" y="4055369"/>
            <a:ext cx="279608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Principais recursos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54435" y="4457962"/>
            <a:ext cx="3754094" cy="242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780" indent="-187890" lvl="1">
              <a:lnSpc>
                <a:spcPts val="2436"/>
              </a:lnSpc>
              <a:buFont typeface="Arial"/>
              <a:buChar char="•"/>
            </a:pPr>
            <a:r>
              <a:rPr lang="en-US" sz="17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Equipe de desenvolvimento, infraestrutura de servidores, banco de dados, plataforma Kaion e as informações fornecidas pela M.a.f. de Sousa &amp; Cia. Ltda. para o gerenciamento do ciclo de vida dos produtos.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74610" y="823278"/>
            <a:ext cx="293363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Propostas Principais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22131" y="1082027"/>
            <a:ext cx="3695113" cy="590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 plataforma oferece à M.a.f. de Sousa &amp; Cia. Ltda. uma solução centralizada que elimina a perda de informações e reduz a lentidão dos processos manuais, transformando o ciclo de vida dos produtos em um fluxo organizado e digital.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 valor entregue está na centralização das ideias, no versionamento seguro das receitas, no acompanhamento das etapas de desenvolvimento e na disponibilização de dashboards e relatórios que apoiam a tomada de decisões estratégicas.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64125" y="823278"/>
            <a:ext cx="326723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Relação com o Cliente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09451" y="1122032"/>
            <a:ext cx="3643057" cy="266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</a:t>
            </a:r>
            <a:r>
              <a:rPr lang="en-US" sz="17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elacionamento baseado na implantação da plataforma, treinamento dos colaboradores, suporte técnico contínuo e acompanhamento para garantir a correta utilização do sistema e a evolução dos processos internos.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397450" y="3940188"/>
            <a:ext cx="3555059" cy="3064246"/>
            <a:chOff x="0" y="0"/>
            <a:chExt cx="936305" cy="807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6305" cy="807050"/>
            </a:xfrm>
            <a:custGeom>
              <a:avLst/>
              <a:gdLst/>
              <a:ahLst/>
              <a:cxnLst/>
              <a:rect r="r" b="b" t="t" l="l"/>
              <a:pathLst>
                <a:path h="807050" w="936305">
                  <a:moveTo>
                    <a:pt x="936305" y="32666"/>
                  </a:moveTo>
                  <a:lnTo>
                    <a:pt x="936305" y="774385"/>
                  </a:lnTo>
                  <a:cubicBezTo>
                    <a:pt x="936305" y="783048"/>
                    <a:pt x="932863" y="791357"/>
                    <a:pt x="926737" y="797483"/>
                  </a:cubicBezTo>
                  <a:cubicBezTo>
                    <a:pt x="920611" y="803609"/>
                    <a:pt x="912303" y="807050"/>
                    <a:pt x="903639" y="807050"/>
                  </a:cubicBezTo>
                  <a:lnTo>
                    <a:pt x="32666" y="807050"/>
                  </a:lnTo>
                  <a:cubicBezTo>
                    <a:pt x="14625" y="807050"/>
                    <a:pt x="0" y="792425"/>
                    <a:pt x="0" y="774385"/>
                  </a:cubicBezTo>
                  <a:lnTo>
                    <a:pt x="0" y="32666"/>
                  </a:lnTo>
                  <a:cubicBezTo>
                    <a:pt x="0" y="24002"/>
                    <a:pt x="3442" y="15694"/>
                    <a:pt x="9568" y="9568"/>
                  </a:cubicBezTo>
                  <a:cubicBezTo>
                    <a:pt x="15694" y="3442"/>
                    <a:pt x="24002" y="0"/>
                    <a:pt x="32666" y="0"/>
                  </a:cubicBezTo>
                  <a:lnTo>
                    <a:pt x="903639" y="0"/>
                  </a:lnTo>
                  <a:cubicBezTo>
                    <a:pt x="921680" y="0"/>
                    <a:pt x="936305" y="14625"/>
                    <a:pt x="936305" y="32666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36305" cy="86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521275" y="4055369"/>
            <a:ext cx="101491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Canais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97450" y="4342514"/>
            <a:ext cx="3365672" cy="266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Plataforma web disponibilizada para uso interno da M.a.f. de Sousa &amp; Cia. Ltda., comunicação direta com os responsáveis pelo projeto e suporte técnico para atendimento das necessidades da empresa.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5304" y="7090159"/>
            <a:ext cx="9058696" cy="1666230"/>
            <a:chOff x="0" y="0"/>
            <a:chExt cx="2385812" cy="4388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85812" cy="438846"/>
            </a:xfrm>
            <a:custGeom>
              <a:avLst/>
              <a:gdLst/>
              <a:ahLst/>
              <a:cxnLst/>
              <a:rect r="r" b="b" t="t" l="l"/>
              <a:pathLst>
                <a:path h="438846" w="2385812">
                  <a:moveTo>
                    <a:pt x="2385812" y="12820"/>
                  </a:moveTo>
                  <a:lnTo>
                    <a:pt x="2385812" y="426026"/>
                  </a:lnTo>
                  <a:cubicBezTo>
                    <a:pt x="2385812" y="433106"/>
                    <a:pt x="2380072" y="438846"/>
                    <a:pt x="2372992" y="438846"/>
                  </a:cubicBezTo>
                  <a:lnTo>
                    <a:pt x="12820" y="438846"/>
                  </a:lnTo>
                  <a:cubicBezTo>
                    <a:pt x="5740" y="438846"/>
                    <a:pt x="0" y="433106"/>
                    <a:pt x="0" y="426026"/>
                  </a:cubicBezTo>
                  <a:lnTo>
                    <a:pt x="0" y="12820"/>
                  </a:lnTo>
                  <a:cubicBezTo>
                    <a:pt x="0" y="5740"/>
                    <a:pt x="5740" y="0"/>
                    <a:pt x="12820" y="0"/>
                  </a:cubicBezTo>
                  <a:lnTo>
                    <a:pt x="2372992" y="0"/>
                  </a:lnTo>
                  <a:cubicBezTo>
                    <a:pt x="2376392" y="0"/>
                    <a:pt x="2379653" y="1351"/>
                    <a:pt x="2382057" y="3755"/>
                  </a:cubicBezTo>
                  <a:cubicBezTo>
                    <a:pt x="2384461" y="6159"/>
                    <a:pt x="2385812" y="9420"/>
                    <a:pt x="2385812" y="1282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385812" cy="495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066809" y="733066"/>
            <a:ext cx="3137449" cy="6271368"/>
            <a:chOff x="0" y="0"/>
            <a:chExt cx="826318" cy="16517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6318" cy="1651731"/>
            </a:xfrm>
            <a:custGeom>
              <a:avLst/>
              <a:gdLst/>
              <a:ahLst/>
              <a:cxnLst/>
              <a:rect r="r" b="b" t="t" l="l"/>
              <a:pathLst>
                <a:path h="1651731" w="826318">
                  <a:moveTo>
                    <a:pt x="826318" y="37014"/>
                  </a:moveTo>
                  <a:lnTo>
                    <a:pt x="826318" y="1614717"/>
                  </a:lnTo>
                  <a:cubicBezTo>
                    <a:pt x="826318" y="1635159"/>
                    <a:pt x="809746" y="1651731"/>
                    <a:pt x="789304" y="1651731"/>
                  </a:cubicBezTo>
                  <a:lnTo>
                    <a:pt x="37014" y="1651731"/>
                  </a:lnTo>
                  <a:cubicBezTo>
                    <a:pt x="27197" y="1651731"/>
                    <a:pt x="17783" y="1647831"/>
                    <a:pt x="10841" y="1640890"/>
                  </a:cubicBezTo>
                  <a:cubicBezTo>
                    <a:pt x="3900" y="1633948"/>
                    <a:pt x="0" y="1624533"/>
                    <a:pt x="0" y="1614717"/>
                  </a:cubicBezTo>
                  <a:lnTo>
                    <a:pt x="0" y="37014"/>
                  </a:lnTo>
                  <a:cubicBezTo>
                    <a:pt x="0" y="27197"/>
                    <a:pt x="3900" y="17783"/>
                    <a:pt x="10841" y="10841"/>
                  </a:cubicBezTo>
                  <a:cubicBezTo>
                    <a:pt x="17783" y="3900"/>
                    <a:pt x="27197" y="0"/>
                    <a:pt x="37014" y="0"/>
                  </a:cubicBezTo>
                  <a:lnTo>
                    <a:pt x="789304" y="0"/>
                  </a:lnTo>
                  <a:cubicBezTo>
                    <a:pt x="799121" y="0"/>
                    <a:pt x="808535" y="3900"/>
                    <a:pt x="815477" y="10841"/>
                  </a:cubicBezTo>
                  <a:cubicBezTo>
                    <a:pt x="822418" y="17783"/>
                    <a:pt x="826318" y="27197"/>
                    <a:pt x="826318" y="37014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26318" cy="1708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41426" y="7080634"/>
            <a:ext cx="8962832" cy="1666230"/>
            <a:chOff x="0" y="0"/>
            <a:chExt cx="2360564" cy="4388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60564" cy="438846"/>
            </a:xfrm>
            <a:custGeom>
              <a:avLst/>
              <a:gdLst/>
              <a:ahLst/>
              <a:cxnLst/>
              <a:rect r="r" b="b" t="t" l="l"/>
              <a:pathLst>
                <a:path h="438846" w="2360564">
                  <a:moveTo>
                    <a:pt x="2360564" y="12957"/>
                  </a:moveTo>
                  <a:lnTo>
                    <a:pt x="2360564" y="425889"/>
                  </a:lnTo>
                  <a:cubicBezTo>
                    <a:pt x="2360564" y="433045"/>
                    <a:pt x="2354763" y="438846"/>
                    <a:pt x="2347607" y="438846"/>
                  </a:cubicBezTo>
                  <a:lnTo>
                    <a:pt x="12957" y="438846"/>
                  </a:lnTo>
                  <a:cubicBezTo>
                    <a:pt x="5801" y="438846"/>
                    <a:pt x="0" y="433045"/>
                    <a:pt x="0" y="425889"/>
                  </a:cubicBezTo>
                  <a:lnTo>
                    <a:pt x="0" y="12957"/>
                  </a:lnTo>
                  <a:cubicBezTo>
                    <a:pt x="0" y="5801"/>
                    <a:pt x="5801" y="0"/>
                    <a:pt x="12957" y="0"/>
                  </a:cubicBezTo>
                  <a:lnTo>
                    <a:pt x="2347607" y="0"/>
                  </a:lnTo>
                  <a:cubicBezTo>
                    <a:pt x="2351043" y="0"/>
                    <a:pt x="2354339" y="1365"/>
                    <a:pt x="2356769" y="3795"/>
                  </a:cubicBezTo>
                  <a:cubicBezTo>
                    <a:pt x="2359199" y="6225"/>
                    <a:pt x="2360564" y="9520"/>
                    <a:pt x="2360564" y="12957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360564" cy="495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5262155" y="847128"/>
            <a:ext cx="19971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Público-Alvo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95384" y="1247788"/>
            <a:ext cx="2878053" cy="502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 solução é destinada à M.a.f. de Sousa &amp; Cia. Ltda., atendendo principalmente os colaboradores dos setores de Pesquisa e Desenvolvimento (P&amp;D), gestão, controle de qualidade e direção, responsáveis pelo desenvolvimento, avaliação e aprovação de novos produtos.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2866" y="7139070"/>
            <a:ext cx="270384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Estrutura de Custo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304" y="7559440"/>
            <a:ext cx="8695875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449"/>
              </a:lnSpc>
              <a:buFont typeface="Arial"/>
              <a:buChar char="•"/>
            </a:pPr>
            <a:r>
              <a:rPr lang="en-US" sz="174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</a:t>
            </a:r>
            <a:r>
              <a:rPr lang="en-US" sz="174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ustos relacionados ao desenvolvimento e manutenção da plataforma, hospedagem em nuvem, banco de dados, infraestrutura tecnológica, suporte técnico e mecanismos de segurança das informações.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79189" y="7175884"/>
            <a:ext cx="255445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Fluxos de Receita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0" y="7471159"/>
            <a:ext cx="9144000" cy="147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Por </a:t>
            </a:r>
            <a:r>
              <a:rPr lang="en-US" sz="169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se tratar de uma solução desenvolvida sob demanda para a M.a.f. de Sousa &amp; Cia. Ltda., não há geração de receita direta. O projeto é voltado ao aumento da eficiência operacional, redução de custos decorrentes de retrabalho e perdas de informação, além da melhoria na tomada de decisão da empresa.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3498015" y="888974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-1456153" y="8842115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9" y="0"/>
                </a:lnTo>
                <a:lnTo>
                  <a:pt x="6775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204607" y="-2812256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5"/>
                </a:lnTo>
                <a:lnTo>
                  <a:pt x="19579424" y="8009765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744203" y="5143500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29632" y="755176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664588" y="-123825"/>
            <a:ext cx="9746539" cy="109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8"/>
              </a:lnSpc>
            </a:pPr>
            <a:r>
              <a:rPr lang="en-US" sz="6405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SOLUÇÃO PROPOSTA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0494" y="4606488"/>
            <a:ext cx="8427417" cy="2457847"/>
            <a:chOff x="0" y="0"/>
            <a:chExt cx="2659296" cy="7755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9296" cy="775581"/>
            </a:xfrm>
            <a:custGeom>
              <a:avLst/>
              <a:gdLst/>
              <a:ahLst/>
              <a:cxnLst/>
              <a:rect r="r" b="b" t="t" l="l"/>
              <a:pathLst>
                <a:path h="775581" w="2659296">
                  <a:moveTo>
                    <a:pt x="30316" y="0"/>
                  </a:moveTo>
                  <a:lnTo>
                    <a:pt x="2628981" y="0"/>
                  </a:lnTo>
                  <a:cubicBezTo>
                    <a:pt x="2637021" y="0"/>
                    <a:pt x="2644732" y="3194"/>
                    <a:pt x="2650417" y="8879"/>
                  </a:cubicBezTo>
                  <a:cubicBezTo>
                    <a:pt x="2656102" y="14565"/>
                    <a:pt x="2659296" y="22276"/>
                    <a:pt x="2659296" y="30316"/>
                  </a:cubicBezTo>
                  <a:lnTo>
                    <a:pt x="2659296" y="745265"/>
                  </a:lnTo>
                  <a:cubicBezTo>
                    <a:pt x="2659296" y="762008"/>
                    <a:pt x="2645724" y="775581"/>
                    <a:pt x="2628981" y="775581"/>
                  </a:cubicBezTo>
                  <a:lnTo>
                    <a:pt x="30316" y="775581"/>
                  </a:lnTo>
                  <a:cubicBezTo>
                    <a:pt x="22276" y="775581"/>
                    <a:pt x="14565" y="772387"/>
                    <a:pt x="8879" y="766701"/>
                  </a:cubicBezTo>
                  <a:cubicBezTo>
                    <a:pt x="3194" y="761016"/>
                    <a:pt x="0" y="753305"/>
                    <a:pt x="0" y="745265"/>
                  </a:cubicBezTo>
                  <a:lnTo>
                    <a:pt x="0" y="30316"/>
                  </a:lnTo>
                  <a:cubicBezTo>
                    <a:pt x="0" y="13573"/>
                    <a:pt x="13573" y="0"/>
                    <a:pt x="30316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59296" cy="813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6259" y="4924545"/>
            <a:ext cx="7635888" cy="22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CENTRALIZA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INFORMAÇÕES E PROCESSOS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ORGA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NIZA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ID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EIAS, TESTES E RECEITAS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REDUZ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P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ERDA 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 DAD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OS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E RET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ABALHO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AG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IL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IZA APROVAÇÕES E TOMADA 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 D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ECIS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ÃO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ERMITE ACOMPA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NHAMENTO</a:t>
            </a:r>
            <a:r>
              <a:rPr lang="en-US" sz="21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EM TEMPO REAL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291760" y="4096583"/>
            <a:ext cx="2892407" cy="49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DIFERENCIAIS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43037" y="1864823"/>
            <a:ext cx="8427417" cy="2914880"/>
            <a:chOff x="0" y="0"/>
            <a:chExt cx="2659296" cy="9197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9296" cy="919799"/>
            </a:xfrm>
            <a:custGeom>
              <a:avLst/>
              <a:gdLst/>
              <a:ahLst/>
              <a:cxnLst/>
              <a:rect r="r" b="b" t="t" l="l"/>
              <a:pathLst>
                <a:path h="919799" w="2659296">
                  <a:moveTo>
                    <a:pt x="30316" y="0"/>
                  </a:moveTo>
                  <a:lnTo>
                    <a:pt x="2628981" y="0"/>
                  </a:lnTo>
                  <a:cubicBezTo>
                    <a:pt x="2637021" y="0"/>
                    <a:pt x="2644732" y="3194"/>
                    <a:pt x="2650417" y="8879"/>
                  </a:cubicBezTo>
                  <a:cubicBezTo>
                    <a:pt x="2656102" y="14565"/>
                    <a:pt x="2659296" y="22276"/>
                    <a:pt x="2659296" y="30316"/>
                  </a:cubicBezTo>
                  <a:lnTo>
                    <a:pt x="2659296" y="889483"/>
                  </a:lnTo>
                  <a:cubicBezTo>
                    <a:pt x="2659296" y="906226"/>
                    <a:pt x="2645724" y="919799"/>
                    <a:pt x="2628981" y="919799"/>
                  </a:cubicBezTo>
                  <a:lnTo>
                    <a:pt x="30316" y="919799"/>
                  </a:lnTo>
                  <a:cubicBezTo>
                    <a:pt x="22276" y="919799"/>
                    <a:pt x="14565" y="916605"/>
                    <a:pt x="8879" y="910920"/>
                  </a:cubicBezTo>
                  <a:cubicBezTo>
                    <a:pt x="3194" y="905234"/>
                    <a:pt x="0" y="897523"/>
                    <a:pt x="0" y="889483"/>
                  </a:cubicBezTo>
                  <a:lnTo>
                    <a:pt x="0" y="30316"/>
                  </a:lnTo>
                  <a:cubicBezTo>
                    <a:pt x="0" y="13573"/>
                    <a:pt x="13573" y="0"/>
                    <a:pt x="30316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59296" cy="957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24149" y="2163818"/>
            <a:ext cx="8427417" cy="260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FU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NI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 DE 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INOVAÇÃO VISUAL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CONTROLE 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DE VERSÕES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ASHBOARDS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E REL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ATÓRIOS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(PDF/EXCEL)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INTERFACE INTUITIVA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BAIX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 CUSTO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DE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MANUTENÇÃO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SEGUR</a:t>
            </a:r>
            <a:r>
              <a:rPr lang="en-US" b="true" sz="21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ANÇA DAS INFORMAÇÕES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70497" y="1354918"/>
            <a:ext cx="5022273" cy="49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COMO RESOLVE  DEMANDA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722834" y="-4365914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88031" y="82296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4312159" y="-47095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44963" y="4076004"/>
            <a:ext cx="13689807" cy="3687506"/>
            <a:chOff x="0" y="0"/>
            <a:chExt cx="4319859" cy="1163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9859" cy="1163603"/>
            </a:xfrm>
            <a:custGeom>
              <a:avLst/>
              <a:gdLst/>
              <a:ahLst/>
              <a:cxnLst/>
              <a:rect r="r" b="b" t="t" l="l"/>
              <a:pathLst>
                <a:path h="1163603" w="4319859">
                  <a:moveTo>
                    <a:pt x="18662" y="0"/>
                  </a:moveTo>
                  <a:lnTo>
                    <a:pt x="4301196" y="0"/>
                  </a:lnTo>
                  <a:cubicBezTo>
                    <a:pt x="4311503" y="0"/>
                    <a:pt x="4319859" y="8355"/>
                    <a:pt x="4319859" y="18662"/>
                  </a:cubicBezTo>
                  <a:lnTo>
                    <a:pt x="4319859" y="1144941"/>
                  </a:lnTo>
                  <a:cubicBezTo>
                    <a:pt x="4319859" y="1155248"/>
                    <a:pt x="4311503" y="1163603"/>
                    <a:pt x="4301196" y="1163603"/>
                  </a:cubicBezTo>
                  <a:lnTo>
                    <a:pt x="18662" y="1163603"/>
                  </a:lnTo>
                  <a:cubicBezTo>
                    <a:pt x="13713" y="1163603"/>
                    <a:pt x="8966" y="1161637"/>
                    <a:pt x="5466" y="1158137"/>
                  </a:cubicBezTo>
                  <a:cubicBezTo>
                    <a:pt x="1966" y="1154638"/>
                    <a:pt x="0" y="1149891"/>
                    <a:pt x="0" y="1144941"/>
                  </a:cubicBezTo>
                  <a:lnTo>
                    <a:pt x="0" y="18662"/>
                  </a:lnTo>
                  <a:cubicBezTo>
                    <a:pt x="0" y="8355"/>
                    <a:pt x="8355" y="0"/>
                    <a:pt x="18662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19859" cy="1201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20219" y="2101689"/>
            <a:ext cx="11823215" cy="109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641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TECNOLOGIAS 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0219" y="3139025"/>
            <a:ext cx="1182321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FERRAMENTAS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93369" y="4652645"/>
            <a:ext cx="4609827" cy="346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HTML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JS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CSS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8186981" y="5253418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630090" y="4650324"/>
            <a:ext cx="4609827" cy="247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PHP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MYSQL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HOST CONFIÁVEL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59400" y="7491224"/>
            <a:ext cx="5819713" cy="3534153"/>
          </a:xfrm>
          <a:custGeom>
            <a:avLst/>
            <a:gdLst/>
            <a:ahLst/>
            <a:cxnLst/>
            <a:rect r="r" b="b" t="t" l="l"/>
            <a:pathLst>
              <a:path h="3534153" w="5819713">
                <a:moveTo>
                  <a:pt x="0" y="0"/>
                </a:moveTo>
                <a:lnTo>
                  <a:pt x="5819713" y="0"/>
                </a:lnTo>
                <a:lnTo>
                  <a:pt x="5819713" y="3534152"/>
                </a:lnTo>
                <a:lnTo>
                  <a:pt x="0" y="3534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1933835" y="-174652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7397776" y="4316609"/>
            <a:ext cx="286471" cy="285038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true" flipV="false" rot="-1414196">
            <a:off x="-12031487" y="5948750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748379" y="3851893"/>
            <a:ext cx="5064133" cy="4524314"/>
            <a:chOff x="0" y="0"/>
            <a:chExt cx="1598002" cy="14276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8002" cy="1427661"/>
            </a:xfrm>
            <a:custGeom>
              <a:avLst/>
              <a:gdLst/>
              <a:ahLst/>
              <a:cxnLst/>
              <a:rect r="r" b="b" t="t" l="l"/>
              <a:pathLst>
                <a:path h="1427661" w="1598002">
                  <a:moveTo>
                    <a:pt x="50450" y="0"/>
                  </a:moveTo>
                  <a:lnTo>
                    <a:pt x="1547553" y="0"/>
                  </a:lnTo>
                  <a:cubicBezTo>
                    <a:pt x="1575415" y="0"/>
                    <a:pt x="1598002" y="22587"/>
                    <a:pt x="1598002" y="50450"/>
                  </a:cubicBezTo>
                  <a:lnTo>
                    <a:pt x="1598002" y="1377211"/>
                  </a:lnTo>
                  <a:cubicBezTo>
                    <a:pt x="1598002" y="1390591"/>
                    <a:pt x="1592687" y="1403423"/>
                    <a:pt x="1583226" y="1412884"/>
                  </a:cubicBezTo>
                  <a:cubicBezTo>
                    <a:pt x="1573765" y="1422345"/>
                    <a:pt x="1560933" y="1427661"/>
                    <a:pt x="1547553" y="1427661"/>
                  </a:cubicBezTo>
                  <a:lnTo>
                    <a:pt x="50450" y="1427661"/>
                  </a:lnTo>
                  <a:cubicBezTo>
                    <a:pt x="37070" y="1427661"/>
                    <a:pt x="24237" y="1422345"/>
                    <a:pt x="14776" y="1412884"/>
                  </a:cubicBezTo>
                  <a:cubicBezTo>
                    <a:pt x="5315" y="1403423"/>
                    <a:pt x="0" y="1390591"/>
                    <a:pt x="0" y="1377211"/>
                  </a:cubicBezTo>
                  <a:lnTo>
                    <a:pt x="0" y="50450"/>
                  </a:lnTo>
                  <a:cubicBezTo>
                    <a:pt x="0" y="37070"/>
                    <a:pt x="5315" y="24237"/>
                    <a:pt x="14776" y="14776"/>
                  </a:cubicBezTo>
                  <a:cubicBezTo>
                    <a:pt x="24237" y="5315"/>
                    <a:pt x="37070" y="0"/>
                    <a:pt x="5045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98002" cy="147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Otimização do funil de inovação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Redução do tempo entre ideia e lançamento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Aumento da eficiência dos proces</a:t>
              </a: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sos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Maior controle e acompanhamento dos produtos</a:t>
              </a:r>
            </a:p>
            <a:p>
              <a:pPr algn="ctr" marL="496567" indent="-248284" lvl="1">
                <a:lnSpc>
                  <a:spcPts val="32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Mais segurança e padronização das informações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26666" y="3851893"/>
            <a:ext cx="5064133" cy="4524016"/>
            <a:chOff x="0" y="0"/>
            <a:chExt cx="1598002" cy="14275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8002" cy="1427567"/>
            </a:xfrm>
            <a:custGeom>
              <a:avLst/>
              <a:gdLst/>
              <a:ahLst/>
              <a:cxnLst/>
              <a:rect r="r" b="b" t="t" l="l"/>
              <a:pathLst>
                <a:path h="1427567" w="1598002">
                  <a:moveTo>
                    <a:pt x="50450" y="0"/>
                  </a:moveTo>
                  <a:lnTo>
                    <a:pt x="1547553" y="0"/>
                  </a:lnTo>
                  <a:cubicBezTo>
                    <a:pt x="1575415" y="0"/>
                    <a:pt x="1598002" y="22587"/>
                    <a:pt x="1598002" y="50450"/>
                  </a:cubicBezTo>
                  <a:lnTo>
                    <a:pt x="1598002" y="1377117"/>
                  </a:lnTo>
                  <a:cubicBezTo>
                    <a:pt x="1598002" y="1390497"/>
                    <a:pt x="1592687" y="1403329"/>
                    <a:pt x="1583226" y="1412790"/>
                  </a:cubicBezTo>
                  <a:cubicBezTo>
                    <a:pt x="1573765" y="1422251"/>
                    <a:pt x="1560933" y="1427567"/>
                    <a:pt x="1547553" y="1427567"/>
                  </a:cubicBezTo>
                  <a:lnTo>
                    <a:pt x="50450" y="1427567"/>
                  </a:lnTo>
                  <a:cubicBezTo>
                    <a:pt x="37070" y="1427567"/>
                    <a:pt x="24237" y="1422251"/>
                    <a:pt x="14776" y="1412790"/>
                  </a:cubicBezTo>
                  <a:cubicBezTo>
                    <a:pt x="5315" y="1403329"/>
                    <a:pt x="0" y="1390497"/>
                    <a:pt x="0" y="1377117"/>
                  </a:cubicBezTo>
                  <a:lnTo>
                    <a:pt x="0" y="50450"/>
                  </a:lnTo>
                  <a:cubicBezTo>
                    <a:pt x="0" y="37070"/>
                    <a:pt x="5315" y="24237"/>
                    <a:pt x="14776" y="14776"/>
                  </a:cubicBezTo>
                  <a:cubicBezTo>
                    <a:pt x="24237" y="5315"/>
                    <a:pt x="37070" y="0"/>
                    <a:pt x="50450" y="0"/>
                  </a:cubicBezTo>
                  <a:close/>
                </a:path>
              </a:pathLst>
            </a:custGeom>
            <a:solidFill>
              <a:srgbClr val="0C386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98002" cy="1475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Maior organização das informações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Redução de perda de dados e retrabalho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Mais agilidade no desenvolvimento de produtos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Melhor tomada de decisão com base em dados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EBEBE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Centralização de ideias, testes e receitas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-401166" y="3109895"/>
            <a:ext cx="4920788" cy="4990931"/>
            <a:chOff x="0" y="0"/>
            <a:chExt cx="11582400" cy="1174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8"/>
              <a:stretch>
                <a:fillRect l="-24644" t="0" r="-246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9"/>
              <a:stretch>
                <a:fillRect l="-272" t="0" r="-272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58733" y="1123950"/>
            <a:ext cx="6179294" cy="171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2"/>
              </a:lnSpc>
            </a:pPr>
            <a:r>
              <a:rPr lang="en-US" sz="6410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RESULTADOS ESPERADOS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26666" y="3147995"/>
            <a:ext cx="5064133" cy="3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800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</a:t>
            </a:r>
            <a:r>
              <a:rPr lang="en-US" b="true" sz="280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ENEFÍCIOS DA SOLUÇÃO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48379" y="3147995"/>
            <a:ext cx="5064133" cy="3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800" b="true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</a:t>
            </a:r>
            <a:r>
              <a:rPr lang="en-US" b="true" sz="280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ELHORIAS PREVISTAS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624380" y="-4573662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4"/>
                </a:lnTo>
                <a:lnTo>
                  <a:pt x="19579424" y="8009764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02273" y="841985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9" y="0"/>
                </a:lnTo>
                <a:lnTo>
                  <a:pt x="6775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3706049" y="-1398692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9" y="4114800"/>
                </a:lnTo>
                <a:lnTo>
                  <a:pt x="677586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28119" y="82296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837081" y="3436102"/>
            <a:ext cx="4354286" cy="4114800"/>
          </a:xfrm>
          <a:custGeom>
            <a:avLst/>
            <a:gdLst/>
            <a:ahLst/>
            <a:cxnLst/>
            <a:rect r="r" b="b" t="t" l="l"/>
            <a:pathLst>
              <a:path h="4114800" w="4354286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93527" y="2565669"/>
            <a:ext cx="8688952" cy="87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8"/>
              </a:lnSpc>
            </a:pPr>
            <a:r>
              <a:rPr lang="en-US" b="true" sz="6410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PITCH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26187" y="7781290"/>
            <a:ext cx="886194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u="sng">
                <a:solidFill>
                  <a:srgbClr val="0C386E"/>
                </a:solidFill>
                <a:latin typeface="Neue Machina"/>
                <a:ea typeface="Neue Machina"/>
                <a:cs typeface="Neue Machina"/>
                <a:sym typeface="Neue Machina"/>
                <a:hlinkClick r:id="rId9" tooltip="https://youtu.be/GtasXRkOpgk?is=BJrXypSirYSAasZ_"/>
              </a:rPr>
              <a:t>https://youtu.be/GtasXRkOpgk?is=BJrXypSirYSAasZ_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835647" y="-4151130"/>
            <a:ext cx="19579424" cy="8009764"/>
          </a:xfrm>
          <a:custGeom>
            <a:avLst/>
            <a:gdLst/>
            <a:ahLst/>
            <a:cxnLst/>
            <a:rect r="r" b="b" t="t" l="l"/>
            <a:pathLst>
              <a:path h="8009764" w="19579424">
                <a:moveTo>
                  <a:pt x="19579424" y="0"/>
                </a:moveTo>
                <a:lnTo>
                  <a:pt x="0" y="0"/>
                </a:lnTo>
                <a:lnTo>
                  <a:pt x="0" y="8009765"/>
                </a:lnTo>
                <a:lnTo>
                  <a:pt x="19579424" y="8009765"/>
                </a:lnTo>
                <a:lnTo>
                  <a:pt x="195794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494082" y="-1122324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4114800"/>
                </a:moveTo>
                <a:lnTo>
                  <a:pt x="6775868" y="4114800"/>
                </a:lnTo>
                <a:lnTo>
                  <a:pt x="67758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81742" y="6884668"/>
            <a:ext cx="7817351" cy="4747264"/>
          </a:xfrm>
          <a:custGeom>
            <a:avLst/>
            <a:gdLst/>
            <a:ahLst/>
            <a:cxnLst/>
            <a:rect r="r" b="b" t="t" l="l"/>
            <a:pathLst>
              <a:path h="4747264" w="7817351">
                <a:moveTo>
                  <a:pt x="0" y="0"/>
                </a:moveTo>
                <a:lnTo>
                  <a:pt x="7817351" y="0"/>
                </a:lnTo>
                <a:lnTo>
                  <a:pt x="7817351" y="4747264"/>
                </a:lnTo>
                <a:lnTo>
                  <a:pt x="0" y="4747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319557" y="3700322"/>
            <a:ext cx="11648887" cy="263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C386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OBRIGADO POR SUA ATENÇÃO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73341" y="6884668"/>
            <a:ext cx="7817351" cy="4747264"/>
          </a:xfrm>
          <a:custGeom>
            <a:avLst/>
            <a:gdLst/>
            <a:ahLst/>
            <a:cxnLst/>
            <a:rect r="r" b="b" t="t" l="l"/>
            <a:pathLst>
              <a:path h="4747264" w="7817351">
                <a:moveTo>
                  <a:pt x="0" y="0"/>
                </a:moveTo>
                <a:lnTo>
                  <a:pt x="7817351" y="0"/>
                </a:lnTo>
                <a:lnTo>
                  <a:pt x="7817351" y="4747264"/>
                </a:lnTo>
                <a:lnTo>
                  <a:pt x="0" y="4747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DAHIEJU2bAE</dc:identifier>
  <dcterms:modified xsi:type="dcterms:W3CDTF">2011-08-01T06:04:30Z</dcterms:modified>
  <cp:revision>1</cp:revision>
  <dc:title>TCC</dc:title>
</cp:coreProperties>
</file>